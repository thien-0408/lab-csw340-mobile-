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Lst>
  <p:sldSz cx="18288000" cy="10287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870BB2A-0CEA-47A3-9FBC-8543B22B44B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6040" cy="3085920"/>
          </a:xfrm>
          <a:prstGeom prst="rect">
            <a:avLst/>
          </a:prstGeom>
          <a:ln w="0">
            <a:noFill/>
          </a:ln>
        </p:spPr>
      </p:sp>
      <p:sp>
        <p:nvSpPr>
          <p:cNvPr id="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3"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DFDFA0E-FA9D-47F5-9AA0-137C6DB5D616}"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6040" cy="3085920"/>
          </a:xfrm>
          <a:prstGeom prst="rect">
            <a:avLst/>
          </a:prstGeom>
          <a:ln w="0">
            <a:noFill/>
          </a:ln>
        </p:spPr>
      </p:sp>
      <p:sp>
        <p:nvSpPr>
          <p:cNvPr id="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lang="en-AU" sz="2000" b="0" u="none" strike="noStrike">
                <a:solidFill>
                  <a:srgbClr val="000000"/>
                </a:solidFill>
                <a:effectLst/>
                <a:uFillTx/>
                <a:latin typeface="Arial"/>
              </a:rPr>
              <a:t>Attendance: Nói thêm là NGHỈ LÀ NGHỈ, KHỎI MAIL MIẾT GÌ HẾT. Vào sau điểm danh cũng tính là vắng luôn. Nên các bạn đi học đúng giờ giùm. Có thể điểm danh bất cứ lúc nào. Thầy Ngọc sẵn sàng cấm thi.</a:t>
            </a:r>
            <a:endParaRPr lang="en-US" sz="2000" b="0" u="none" strike="noStrike">
              <a:solidFill>
                <a:srgbClr val="000000"/>
              </a:solidFill>
              <a:effectLst/>
              <a:uFillTx/>
              <a:latin typeface="Arial"/>
            </a:endParaRPr>
          </a:p>
          <a:p>
            <a:pPr indent="0">
              <a:lnSpc>
                <a:spcPct val="100000"/>
              </a:lnSpc>
              <a:buNone/>
            </a:pPr>
            <a:r>
              <a:rPr lang="en-AU" sz="2000" b="0" u="none" strike="noStrike">
                <a:solidFill>
                  <a:srgbClr val="000000"/>
                </a:solidFill>
                <a:effectLst/>
                <a:uFillTx/>
                <a:latin typeface="Arial"/>
              </a:rPr>
              <a:t>Cheating: Gian lận là 0đ cả cột đó chứ không phải 1 câu. Ví dụ Trong test 1 có 3 câu, gian lận 1 câu thì Test 1 = 0đ.</a:t>
            </a:r>
            <a:endParaRPr lang="en-US" sz="2000" b="0" u="none" strike="noStrike">
              <a:solidFill>
                <a:srgbClr val="000000"/>
              </a:solidFill>
              <a:effectLst/>
              <a:uFillTx/>
              <a:latin typeface="Arial"/>
            </a:endParaRPr>
          </a:p>
          <a:p>
            <a:pPr indent="0">
              <a:lnSpc>
                <a:spcPct val="100000"/>
              </a:lnSpc>
              <a:buNone/>
            </a:pPr>
            <a:r>
              <a:rPr lang="en-AU" sz="2000" b="0" u="none" strike="noStrike">
                <a:solidFill>
                  <a:srgbClr val="000000"/>
                </a:solidFill>
                <a:effectLst/>
                <a:uFillTx/>
                <a:latin typeface="Arial"/>
              </a:rPr>
              <a:t>Submission: Mỗi bài tập đều có deadline là 14 ngày. Nộp sau deadline là 0đ. Điểm bài tập dễ lấy nhất, nên ráng mà làm cho đầy đủ.</a:t>
            </a:r>
            <a:endParaRPr lang="en-US" sz="2000" b="0" u="none" strike="noStrike">
              <a:solidFill>
                <a:srgbClr val="000000"/>
              </a:solidFill>
              <a:effectLst/>
              <a:uFillTx/>
              <a:latin typeface="Arial"/>
            </a:endParaRPr>
          </a:p>
          <a:p>
            <a:pPr indent="0">
              <a:lnSpc>
                <a:spcPct val="100000"/>
              </a:lnSpc>
              <a:buNone/>
            </a:pPr>
            <a:r>
              <a:rPr lang="en-AU" sz="2000" b="0" u="none" strike="noStrike">
                <a:solidFill>
                  <a:srgbClr val="000000"/>
                </a:solidFill>
                <a:effectLst/>
                <a:uFillTx/>
                <a:latin typeface="Arial"/>
              </a:rPr>
              <a:t>Notes:</a:t>
            </a:r>
            <a:endParaRPr lang="en-US" sz="2000" b="0" u="none" strike="noStrike">
              <a:solidFill>
                <a:srgbClr val="000000"/>
              </a:solidFill>
              <a:effectLst/>
              <a:uFillTx/>
              <a:latin typeface="Arial"/>
            </a:endParaRPr>
          </a:p>
          <a:p>
            <a:pPr indent="0">
              <a:lnSpc>
                <a:spcPct val="100000"/>
              </a:lnSpc>
              <a:buNone/>
            </a:pPr>
            <a:r>
              <a:rPr lang="en-AU" sz="2000" b="0" u="none" strike="noStrike">
                <a:solidFill>
                  <a:srgbClr val="000000"/>
                </a:solidFill>
                <a:effectLst/>
                <a:uFillTx/>
                <a:latin typeface="Arial"/>
              </a:rPr>
              <a:t>- Kì rồi thoải mái quá nên các bạn không chú tâm học nên bị rớt nhiều</a:t>
            </a:r>
            <a:endParaRPr lang="en-US" sz="2000" b="0" u="none" strike="noStrike">
              <a:solidFill>
                <a:srgbClr val="000000"/>
              </a:solidFill>
              <a:effectLst/>
              <a:uFillTx/>
              <a:latin typeface="Arial"/>
            </a:endParaRPr>
          </a:p>
          <a:p>
            <a:pPr indent="0">
              <a:lnSpc>
                <a:spcPct val="100000"/>
              </a:lnSpc>
              <a:buNone/>
            </a:pPr>
            <a:r>
              <a:rPr lang="en-AU" sz="2000" b="0" u="none" strike="noStrike">
                <a:solidFill>
                  <a:srgbClr val="000000"/>
                </a:solidFill>
                <a:effectLst/>
                <a:uFillTx/>
                <a:latin typeface="Arial"/>
              </a:rPr>
              <a:t>- Do phòng khảo thí phát hiện SV sử dụng điện thoại trong lúc đi vệ sinh và những trường hợp gian lận đều xin đi VS trong lúc kiểm tra nên các bạn không được đi ra ngoài trong giờ kiểm tra. Nháp thì phải là 1 TỜ nháp trắng. Các bạn không được ghi gì trước khi bắt đầu bài kiểm tra.</a:t>
            </a:r>
            <a:endParaRPr lang="en-US" sz="2000" b="0" u="none" strike="noStrike">
              <a:solidFill>
                <a:srgbClr val="000000"/>
              </a:solidFill>
              <a:effectLst/>
              <a:uFillTx/>
              <a:latin typeface="Arial"/>
            </a:endParaRPr>
          </a:p>
        </p:txBody>
      </p:sp>
      <p:sp>
        <p:nvSpPr>
          <p:cNvPr id="86"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719B3A0-08BA-4B32-85BF-49FD562A8C33}"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02E611D-6FDD-490A-80B5-68DDEF06110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4ABB654-54B0-4842-9CBE-2292335EC8A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B517E63-9D31-4677-A161-CD4094F7D7B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1887170-4F31-4B45-9307-E02CE807F35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B338403-2C42-4A0B-94A0-8BD870C7BD6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551DFB8-9299-4315-A304-9B91B49AC65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0818AA7-89B9-4BB9-8BCB-8D09848C727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EEBAF69-9674-4A9A-8B53-F650BF63BF5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AA63DF9-6D91-4475-960E-4FDA13BFD34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8"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EB46F9E-4DB5-4262-B65A-7B283F994B7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a:defRPr>
            </a:lvl1pPr>
          </a:lstStyle>
          <a:p>
            <a:pPr indent="0"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6E1B13E7-923F-4E15-B2E2-6CF1ADCFD3B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2"/>
          <p:cNvSpPr/>
          <p:nvPr/>
        </p:nvSpPr>
        <p:spPr>
          <a:xfrm>
            <a:off x="20880" y="-3960"/>
            <a:ext cx="10134360" cy="10290600"/>
          </a:xfrm>
          <a:prstGeom prst="rect">
            <a:avLst/>
          </a:prstGeom>
          <a:solidFill>
            <a:schemeClr val="tx1"/>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AU" sz="1800" b="0" u="none" strike="noStrike">
              <a:solidFill>
                <a:schemeClr val="lt1"/>
              </a:solidFill>
              <a:effectLst/>
              <a:uFillTx/>
              <a:latin typeface="Calibri"/>
            </a:endParaRPr>
          </a:p>
        </p:txBody>
      </p:sp>
      <p:pic>
        <p:nvPicPr>
          <p:cNvPr id="68" name="Picture 11" descr="The inside of a building&#10;&#10;Description automatically generated"/>
          <p:cNvPicPr/>
          <p:nvPr/>
        </p:nvPicPr>
        <p:blipFill>
          <a:blip r:embed="rId1">
            <a:alphaModFix amt="61000"/>
          </a:blip>
          <a:srcRect l="19161" t="0" r="28136" b="0"/>
          <a:stretch/>
        </p:blipFill>
        <p:spPr>
          <a:xfrm>
            <a:off x="20880" y="0"/>
            <a:ext cx="8132400" cy="10286640"/>
          </a:xfrm>
          <a:prstGeom prst="rect">
            <a:avLst/>
          </a:prstGeom>
          <a:noFill/>
          <a:ln w="0">
            <a:noFill/>
          </a:ln>
        </p:spPr>
      </p:pic>
      <p:sp>
        <p:nvSpPr>
          <p:cNvPr id="69" name="Rectangle 10"/>
          <p:cNvSpPr/>
          <p:nvPr/>
        </p:nvSpPr>
        <p:spPr>
          <a:xfrm>
            <a:off x="5257800" y="-3960"/>
            <a:ext cx="13029840" cy="10290600"/>
          </a:xfrm>
          <a:prstGeom prst="rect">
            <a:avLst/>
          </a:prstGeom>
          <a:solidFill>
            <a:srgbClr val="144069"/>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AU" sz="1800" b="0" u="none" strike="noStrike">
              <a:solidFill>
                <a:schemeClr val="lt1"/>
              </a:solidFill>
              <a:effectLst/>
              <a:uFillTx/>
              <a:latin typeface="Calibri"/>
            </a:endParaRPr>
          </a:p>
        </p:txBody>
      </p:sp>
      <p:sp>
        <p:nvSpPr>
          <p:cNvPr id="70" name="Flowchart: Data 8"/>
          <p:cNvSpPr/>
          <p:nvPr/>
        </p:nvSpPr>
        <p:spPr>
          <a:xfrm>
            <a:off x="4405320" y="4915080"/>
            <a:ext cx="2799000" cy="5371920"/>
          </a:xfrm>
          <a:prstGeom prst="flowChartInputOutpu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AU" sz="1050" b="0" u="none" strike="noStrike">
              <a:solidFill>
                <a:schemeClr val="dk2">
                  <a:lumMod val="75000"/>
                </a:schemeClr>
              </a:solidFill>
              <a:effectLst/>
              <a:uFillTx/>
              <a:latin typeface="Calibri"/>
            </a:endParaRPr>
          </a:p>
        </p:txBody>
      </p:sp>
      <p:sp>
        <p:nvSpPr>
          <p:cNvPr id="71" name="AutoShape 7"/>
          <p:cNvSpPr/>
          <p:nvPr/>
        </p:nvSpPr>
        <p:spPr>
          <a:xfrm>
            <a:off x="0" y="8429760"/>
            <a:ext cx="18287640" cy="142560"/>
          </a:xfrm>
          <a:prstGeom prst="rect">
            <a:avLst/>
          </a:prstGeom>
          <a:solidFill>
            <a:schemeClr val="bg2">
              <a:lumMod val="75000"/>
            </a:schemeClr>
          </a:solidFill>
          <a:ln w="9525">
            <a:noFill/>
          </a:ln>
        </p:spPr>
        <p:style>
          <a:lnRef idx="0"/>
          <a:fillRef idx="0"/>
          <a:effectRef idx="0"/>
          <a:fontRef idx="minor"/>
        </p:style>
        <p:txBody>
          <a:bodyPr lIns="90000" rIns="90000" tIns="45000" bIns="45000" anchor="t">
            <a:noAutofit/>
          </a:bodyPr>
          <a:p>
            <a:pPr defTabSz="914400">
              <a:lnSpc>
                <a:spcPct val="100000"/>
              </a:lnSpc>
            </a:pPr>
            <a:endParaRPr lang="en-VN" sz="1800" b="0" u="none" strike="noStrike">
              <a:solidFill>
                <a:schemeClr val="dk1"/>
              </a:solidFill>
              <a:effectLst/>
              <a:uFillTx/>
              <a:latin typeface="Calibri"/>
            </a:endParaRPr>
          </a:p>
        </p:txBody>
      </p:sp>
      <p:pic>
        <p:nvPicPr>
          <p:cNvPr id="72" name="Picture 20" descr="Text&#10;&#10;Description automatically generated"/>
          <p:cNvPicPr/>
          <p:nvPr/>
        </p:nvPicPr>
        <p:blipFill>
          <a:blip r:embed="rId2"/>
          <a:stretch/>
        </p:blipFill>
        <p:spPr>
          <a:xfrm>
            <a:off x="15233400" y="500760"/>
            <a:ext cx="2133360" cy="1884240"/>
          </a:xfrm>
          <a:prstGeom prst="rect">
            <a:avLst/>
          </a:prstGeom>
          <a:noFill/>
          <a:ln w="0">
            <a:noFill/>
          </a:ln>
        </p:spPr>
      </p:pic>
      <p:sp>
        <p:nvSpPr>
          <p:cNvPr id="73" name="Flowchart: Data 9"/>
          <p:cNvSpPr/>
          <p:nvPr/>
        </p:nvSpPr>
        <p:spPr>
          <a:xfrm>
            <a:off x="3270240" y="-3960"/>
            <a:ext cx="2799000" cy="5371920"/>
          </a:xfrm>
          <a:prstGeom prst="flowChartInputOutpu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AU" sz="1050" b="0" u="none" strike="noStrike">
              <a:solidFill>
                <a:schemeClr val="dk2">
                  <a:lumMod val="75000"/>
                </a:schemeClr>
              </a:solidFill>
              <a:effectLst/>
              <a:uFillTx/>
              <a:latin typeface="Calibri"/>
            </a:endParaRPr>
          </a:p>
        </p:txBody>
      </p:sp>
      <p:cxnSp>
        <p:nvCxnSpPr>
          <p:cNvPr id="74" name="Straight Connector 14"/>
          <p:cNvCxnSpPr/>
          <p:nvPr/>
        </p:nvCxnSpPr>
        <p:spPr>
          <a:xfrm>
            <a:off x="7790400" y="6245280"/>
            <a:ext cx="3882240" cy="360"/>
          </a:xfrm>
          <a:prstGeom prst="straightConnector1">
            <a:avLst/>
          </a:prstGeom>
          <a:ln w="28575">
            <a:solidFill>
              <a:srgbClr val="ffffff"/>
            </a:solidFill>
            <a:round/>
          </a:ln>
        </p:spPr>
      </p:cxnSp>
      <p:sp>
        <p:nvSpPr>
          <p:cNvPr id="75" name="TextBox 4"/>
          <p:cNvSpPr/>
          <p:nvPr/>
        </p:nvSpPr>
        <p:spPr>
          <a:xfrm>
            <a:off x="7696080" y="2781360"/>
            <a:ext cx="9365400" cy="33235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lang="en-AU" sz="7200" b="1" u="none" spc="159" strike="noStrike">
                <a:solidFill>
                  <a:schemeClr val="lt1"/>
                </a:solidFill>
                <a:effectLst/>
                <a:uFillTx/>
                <a:latin typeface="Open Sans"/>
                <a:ea typeface="Open Sans"/>
              </a:rPr>
              <a:t>INTRODUCTION</a:t>
            </a:r>
            <a:endParaRPr lang="en-US" sz="7200" b="0" u="none" strike="noStrike">
              <a:solidFill>
                <a:srgbClr val="000000"/>
              </a:solidFill>
              <a:effectLst/>
              <a:uFillTx/>
              <a:latin typeface="Arial"/>
            </a:endParaRPr>
          </a:p>
          <a:p>
            <a:pPr defTabSz="914400">
              <a:lnSpc>
                <a:spcPct val="100000"/>
              </a:lnSpc>
            </a:pPr>
            <a:r>
              <a:rPr lang="en-AU" sz="7200" b="1" u="none" spc="159" strike="noStrike">
                <a:solidFill>
                  <a:schemeClr val="lt1"/>
                </a:solidFill>
                <a:effectLst/>
                <a:uFillTx/>
                <a:latin typeface="Open Sans"/>
                <a:ea typeface="Open Sans"/>
              </a:rPr>
              <a:t>TO</a:t>
            </a:r>
            <a:endParaRPr lang="en-US" sz="7200" b="0" u="none" strike="noStrike">
              <a:solidFill>
                <a:srgbClr val="000000"/>
              </a:solidFill>
              <a:effectLst/>
              <a:uFillTx/>
              <a:latin typeface="Arial"/>
            </a:endParaRPr>
          </a:p>
          <a:p>
            <a:pPr defTabSz="914400">
              <a:lnSpc>
                <a:spcPct val="100000"/>
              </a:lnSpc>
            </a:pPr>
            <a:r>
              <a:rPr lang="en-AU" sz="7200" b="1" u="none" spc="159" strike="noStrike">
                <a:solidFill>
                  <a:srgbClr val="ffc000"/>
                </a:solidFill>
                <a:effectLst/>
                <a:uFillTx/>
                <a:latin typeface="Open Sans"/>
                <a:ea typeface="Open Sans"/>
              </a:rPr>
              <a:t>LAB SESSION</a:t>
            </a:r>
            <a:endParaRPr lang="en-US" sz="7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4069"/>
        </a:solidFill>
      </p:bgPr>
    </p:bg>
    <p:spTree>
      <p:nvGrpSpPr>
        <p:cNvPr id="1" name=""/>
        <p:cNvGrpSpPr/>
        <p:nvPr/>
      </p:nvGrpSpPr>
      <p:grpSpPr>
        <a:xfrm>
          <a:off x="0" y="0"/>
          <a:ext cx="0" cy="0"/>
          <a:chOff x="0" y="0"/>
          <a:chExt cx="0" cy="0"/>
        </a:xfrm>
      </p:grpSpPr>
      <p:sp>
        <p:nvSpPr>
          <p:cNvPr id="76" name="Flowchart: Data 16"/>
          <p:cNvSpPr/>
          <p:nvPr/>
        </p:nvSpPr>
        <p:spPr>
          <a:xfrm>
            <a:off x="0" y="0"/>
            <a:ext cx="5360040" cy="10286640"/>
          </a:xfrm>
          <a:prstGeom prst="flowChartInputOutput">
            <a:avLst/>
          </a:prstGeom>
          <a:solidFill>
            <a:schemeClr val="dk2">
              <a:lumMod val="50000"/>
              <a:alpha val="33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AU" sz="1050" b="0" u="none" strike="noStrike">
              <a:solidFill>
                <a:schemeClr val="dk2">
                  <a:lumMod val="75000"/>
                </a:schemeClr>
              </a:solidFill>
              <a:effectLst/>
              <a:uFillTx/>
              <a:latin typeface="Calibri"/>
            </a:endParaRPr>
          </a:p>
        </p:txBody>
      </p:sp>
      <p:sp>
        <p:nvSpPr>
          <p:cNvPr id="77" name="TextBox 4"/>
          <p:cNvSpPr/>
          <p:nvPr/>
        </p:nvSpPr>
        <p:spPr>
          <a:xfrm>
            <a:off x="911160" y="1472040"/>
            <a:ext cx="4393800" cy="615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lang="en-US" sz="4000" b="1" u="none" spc="159" strike="noStrike">
                <a:solidFill>
                  <a:schemeClr val="lt1"/>
                </a:solidFill>
                <a:effectLst/>
                <a:uFillTx/>
                <a:latin typeface="Open Sans"/>
                <a:ea typeface="Open Sans"/>
              </a:rPr>
              <a:t>POLICIES</a:t>
            </a:r>
            <a:endParaRPr lang="en-US" sz="4000" b="0" u="none" strike="noStrike">
              <a:solidFill>
                <a:srgbClr val="ffffff"/>
              </a:solidFill>
              <a:effectLst/>
              <a:uFillTx/>
              <a:latin typeface="Arial"/>
            </a:endParaRPr>
          </a:p>
        </p:txBody>
      </p:sp>
      <p:cxnSp>
        <p:nvCxnSpPr>
          <p:cNvPr id="78" name="Straight Connector 17"/>
          <p:cNvCxnSpPr/>
          <p:nvPr/>
        </p:nvCxnSpPr>
        <p:spPr>
          <a:xfrm>
            <a:off x="914400" y="2247840"/>
            <a:ext cx="4243680" cy="360"/>
          </a:xfrm>
          <a:prstGeom prst="straightConnector1">
            <a:avLst/>
          </a:prstGeom>
          <a:ln w="28575">
            <a:solidFill>
              <a:srgbClr val="ffffff"/>
            </a:solidFill>
            <a:round/>
          </a:ln>
        </p:spPr>
      </p:cxnSp>
      <p:pic>
        <p:nvPicPr>
          <p:cNvPr id="79" name="Picture 9"/>
          <p:cNvPicPr/>
          <p:nvPr/>
        </p:nvPicPr>
        <p:blipFill>
          <a:blip r:embed="rId1"/>
          <a:stretch/>
        </p:blipFill>
        <p:spPr>
          <a:xfrm>
            <a:off x="661680" y="0"/>
            <a:ext cx="2616120" cy="1471680"/>
          </a:xfrm>
          <a:prstGeom prst="rect">
            <a:avLst/>
          </a:prstGeom>
          <a:noFill/>
          <a:ln w="0">
            <a:noFill/>
          </a:ln>
        </p:spPr>
      </p:pic>
      <p:sp>
        <p:nvSpPr>
          <p:cNvPr id="80" name="TextBox 1"/>
          <p:cNvSpPr/>
          <p:nvPr/>
        </p:nvSpPr>
        <p:spPr>
          <a:xfrm>
            <a:off x="911160" y="2552760"/>
            <a:ext cx="16386120" cy="44794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3600" b="1" u="none" strike="noStrike">
                <a:solidFill>
                  <a:srgbClr val="ffc000"/>
                </a:solidFill>
                <a:effectLst/>
                <a:uFillTx/>
                <a:latin typeface="Calibri"/>
              </a:rPr>
              <a:t>Attendance</a:t>
            </a:r>
            <a:endParaRPr lang="en-US" sz="3600" b="0" u="none" strike="noStrike">
              <a:solidFill>
                <a:srgbClr val="ffffff"/>
              </a:solidFill>
              <a:effectLst/>
              <a:uFillTx/>
              <a:latin typeface="Arial"/>
            </a:endParaRPr>
          </a:p>
          <a:p>
            <a:pPr algn="just" defTabSz="914400">
              <a:lnSpc>
                <a:spcPct val="100000"/>
              </a:lnSpc>
            </a:pPr>
            <a:r>
              <a:rPr lang="en-US" sz="3600" b="0" u="none" strike="noStrike">
                <a:solidFill>
                  <a:schemeClr val="lt1"/>
                </a:solidFill>
                <a:effectLst/>
                <a:uFillTx/>
                <a:latin typeface="Calibri"/>
              </a:rPr>
              <a:t>If a student is absent </a:t>
            </a:r>
            <a:r>
              <a:rPr lang="en-US" sz="3600" b="1" u="none" strike="noStrike">
                <a:solidFill>
                  <a:srgbClr val="ff0000"/>
                </a:solidFill>
                <a:effectLst/>
                <a:uFillTx/>
                <a:latin typeface="Calibri"/>
              </a:rPr>
              <a:t>20% or more </a:t>
            </a:r>
            <a:r>
              <a:rPr lang="en-US" sz="3600" b="0" u="none" strike="noStrike">
                <a:solidFill>
                  <a:schemeClr val="lt1"/>
                </a:solidFill>
                <a:effectLst/>
                <a:uFillTx/>
                <a:latin typeface="Calibri"/>
              </a:rPr>
              <a:t>of hours of classes, they will not be allowed to take the final examination.</a:t>
            </a:r>
            <a:endParaRPr lang="en-US" sz="3600" b="0" u="none" strike="noStrike">
              <a:solidFill>
                <a:srgbClr val="ffffff"/>
              </a:solidFill>
              <a:effectLst/>
              <a:uFillTx/>
              <a:latin typeface="Arial"/>
            </a:endParaRPr>
          </a:p>
          <a:p>
            <a:pPr algn="just" defTabSz="914400">
              <a:lnSpc>
                <a:spcPct val="100000"/>
              </a:lnSpc>
            </a:pPr>
            <a:r>
              <a:rPr lang="en-US" sz="3600" b="1" u="none" strike="noStrike">
                <a:solidFill>
                  <a:srgbClr val="ffc000"/>
                </a:solidFill>
                <a:effectLst/>
                <a:uFillTx/>
                <a:latin typeface="Calibri"/>
              </a:rPr>
              <a:t>Cheating</a:t>
            </a:r>
            <a:endParaRPr lang="en-US" sz="3600" b="0" u="none" strike="noStrike">
              <a:solidFill>
                <a:srgbClr val="ffffff"/>
              </a:solidFill>
              <a:effectLst/>
              <a:uFillTx/>
              <a:latin typeface="Arial"/>
            </a:endParaRPr>
          </a:p>
          <a:p>
            <a:pPr algn="just" defTabSz="914400">
              <a:lnSpc>
                <a:spcPct val="100000"/>
              </a:lnSpc>
            </a:pPr>
            <a:r>
              <a:rPr lang="en-US" sz="3600" b="0" u="none" strike="noStrike">
                <a:solidFill>
                  <a:schemeClr val="lt1"/>
                </a:solidFill>
                <a:effectLst/>
                <a:uFillTx/>
                <a:latin typeface="Calibri"/>
              </a:rPr>
              <a:t>Any cheating will result in a score of </a:t>
            </a:r>
            <a:r>
              <a:rPr lang="en-US" sz="3600" b="1" u="none" strike="noStrike">
                <a:solidFill>
                  <a:srgbClr val="ff0000"/>
                </a:solidFill>
                <a:effectLst/>
                <a:uFillTx/>
                <a:latin typeface="Calibri"/>
              </a:rPr>
              <a:t>ZERO</a:t>
            </a:r>
            <a:r>
              <a:rPr lang="en-US" sz="3600" b="0" u="none" strike="noStrike">
                <a:solidFill>
                  <a:schemeClr val="lt1"/>
                </a:solidFill>
                <a:effectLst/>
                <a:uFillTx/>
                <a:latin typeface="Calibri"/>
              </a:rPr>
              <a:t> for the assignments or exam. Similar code, Talking during the test or exam, Exchange documents,…</a:t>
            </a:r>
            <a:endParaRPr lang="en-US" sz="3600" b="0" u="none" strike="noStrike">
              <a:solidFill>
                <a:srgbClr val="ffffff"/>
              </a:solidFill>
              <a:effectLst/>
              <a:uFillTx/>
              <a:latin typeface="Arial"/>
            </a:endParaRPr>
          </a:p>
          <a:p>
            <a:pPr algn="just" defTabSz="914400">
              <a:lnSpc>
                <a:spcPct val="100000"/>
              </a:lnSpc>
            </a:pPr>
            <a:r>
              <a:rPr lang="en-US" sz="3600" b="1" u="none" strike="noStrike">
                <a:solidFill>
                  <a:srgbClr val="ffc000"/>
                </a:solidFill>
                <a:effectLst/>
                <a:uFillTx/>
                <a:latin typeface="Calibri"/>
              </a:rPr>
              <a:t>Submission</a:t>
            </a:r>
            <a:endParaRPr lang="en-US" sz="3600" b="0" u="none" strike="noStrike">
              <a:solidFill>
                <a:srgbClr val="ffffff"/>
              </a:solidFill>
              <a:effectLst/>
              <a:uFillTx/>
              <a:latin typeface="Arial"/>
            </a:endParaRPr>
          </a:p>
          <a:p>
            <a:pPr algn="just" defTabSz="914400">
              <a:lnSpc>
                <a:spcPct val="100000"/>
              </a:lnSpc>
            </a:pPr>
            <a:r>
              <a:rPr lang="en-US" sz="3600" b="0" u="none" strike="noStrike">
                <a:solidFill>
                  <a:schemeClr val="lt1"/>
                </a:solidFill>
                <a:effectLst/>
                <a:uFillTx/>
                <a:latin typeface="Calibri"/>
              </a:rPr>
              <a:t>Students submit homework after 7 days (late: -30 points).</a:t>
            </a:r>
            <a:endParaRPr lang="en-US" sz="3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TM02892315[[fn=Wisp]]</Template>
  <TotalTime>10056</TotalTime>
  <Application>LibreOffice/25.8.4.2$MacOSX_AARCH64 LibreOffice_project/290daaa01b999472f0c7a3890eb6a550fd74c6df</Application>
  <AppVersion>15.0000</AppVersion>
  <Words>324</Words>
  <Paragraphs>21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Sherry Tran</dc:creator>
  <dc:description/>
  <dc:identifier>DAELMnoqVyU</dc:identifier>
  <dc:language>en-US</dc:language>
  <cp:lastModifiedBy/>
  <dcterms:modified xsi:type="dcterms:W3CDTF">2026-04-09T09:18:28Z</dcterms:modified>
  <cp:revision>125</cp:revision>
  <dc:subject/>
  <dc:title>Navy Blue Law Professional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Custom</vt:lpwstr>
  </property>
  <property fmtid="{D5CDD505-2E9C-101B-9397-08002B2CF9AE}" pid="4" name="Slides">
    <vt:i4>2</vt:i4>
  </property>
</Properties>
</file>